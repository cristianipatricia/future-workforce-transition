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A959"/>
    <a:srgbClr val="0B1F2D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5728"/>
    <p:restoredTop sz="91844"/>
  </p:normalViewPr>
  <p:slideViewPr>
    <p:cSldViewPr snapToGrid="0">
      <p:cViewPr>
        <p:scale>
          <a:sx n="122" d="100"/>
          <a:sy n="122" d="100"/>
        </p:scale>
        <p:origin x="-280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B408A-CC08-B85F-F20F-71F26E101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C41855-F121-95BC-002C-F94E4B01D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F95371-5221-9366-E5E9-288A5B6DE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846E-515A-EB4F-B4EF-2E21642553A0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EC645D-17FE-BB87-2A97-A552B4CA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EB0385-AD50-379E-7A0C-8BF89E032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5B58E-B998-DA47-BAD6-1BF882EE32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0799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7E9EC-1AC9-AAE5-7CA9-A8FD2B4F2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B7E9B7-CFF6-BE26-4B1A-7C97345CB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DCAC1B-8E0E-FA62-2A8C-1EE25E26A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846E-515A-EB4F-B4EF-2E21642553A0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F4A161-7521-B1CC-7FBA-B9F90286A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D33980-EA9A-2827-E8E1-23339C42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5B58E-B998-DA47-BAD6-1BF882EE32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1453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EF2F6-38F8-B980-893A-05B6FE69A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71FBA8-181A-429A-7B12-90AAFE802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477A3B-88E8-DF77-44DE-3C51BD08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846E-515A-EB4F-B4EF-2E21642553A0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488DD2-D1DF-CC5B-72D7-E80E652CF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004964-FF1D-E29E-B225-EC61024C4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5B58E-B998-DA47-BAD6-1BF882EE32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128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19F7C-7047-0A53-4EBA-D142A0551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04813C-5A67-41EA-6FA1-593EE5EC7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FB7A37-C046-C74C-597D-E15DCF2B5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6F652F-FD75-5F02-9BE9-8D9D81DF1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846E-515A-EB4F-B4EF-2E21642553A0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8F7AFD-BCAF-14BC-CC3F-95182D895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9C5FA3-5C67-7ABE-FDDF-02602138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5B58E-B998-DA47-BAD6-1BF882EE32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7105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5337F-159A-78DA-15D3-D79A33D75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87436D-9AB0-56F2-BA99-CA96A5114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B3E5BDC-F9D6-61C9-735D-13CDA1A22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AD30BE1-9439-0732-CF71-281A904498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E17DB9E-7374-0030-148D-2E4228210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F188164-8458-03B7-220D-F4481B9C5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846E-515A-EB4F-B4EF-2E21642553A0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AE19797-2DA9-04F9-20AA-1164C0EA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C62F6DE-6E1C-6C9A-D14B-75BE91149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5B58E-B998-DA47-BAD6-1BF882EE32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648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B2B1A8-2DCD-151B-E07B-4F87A1260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033F0E8-FE96-53F6-F7EA-C03858F8C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846E-515A-EB4F-B4EF-2E21642553A0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C83B050-5448-D351-6EAC-44E0BC1BC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E55D6BF-CB6A-BA08-24D8-1E0A64EC1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5B58E-B998-DA47-BAD6-1BF882EE32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4599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151C9BF-2713-F249-061B-79EA25554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846E-515A-EB4F-B4EF-2E21642553A0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A0ACEC1-4E24-0612-3835-944AB63AD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4AC823-94CA-A74E-9FA7-1284FCDA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5B58E-B998-DA47-BAD6-1BF882EE32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113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22033-88D1-8111-2BD8-F16742BE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9ADFB5-81DC-5BB2-174F-CBC38672D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017CCCF-2DD6-D199-3BA9-9EE655E4C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FE24CC-BE21-3DB8-A990-47C082695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846E-515A-EB4F-B4EF-2E21642553A0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F929361-3291-C392-0650-454E5785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2FEC49-D2A5-D8B3-2014-FAF0C261F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5B58E-B998-DA47-BAD6-1BF882EE32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566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2F083-8A5B-CB38-0CA1-381ADAD08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E459203-39D5-4CB9-1FF3-EF9C52640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A35BD9-3013-0248-9CBD-C6396342F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7A5CF1-A22A-8B91-8CEF-076846922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846E-515A-EB4F-B4EF-2E21642553A0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2E1EE4-79E1-F16B-31A6-C04B4461B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D521A9-14E9-7635-E57A-1BE61BC43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5B58E-B998-DA47-BAD6-1BF882EE32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700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9ACBA-A634-8306-B6B4-8EF686C29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ED33D2-0359-CCF3-B01E-2CDEDBDCA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E472B8-58E2-CCFF-12B5-524810CA1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846E-515A-EB4F-B4EF-2E21642553A0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DCB441-A462-2D0E-4BC1-2CE326A9D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15DC47-02AF-7085-B2D2-453546E18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5B58E-B998-DA47-BAD6-1BF882EE32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98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9B55AC-BFC3-8D59-1255-ACF6B49020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AC04C22-0C41-CD32-491C-E5E773C1F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7B358C-7B8A-DEEC-6BCF-B6C7FD0C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846E-515A-EB4F-B4EF-2E21642553A0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785C30-8468-B854-EB41-B7860B89E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2FD518-B9A6-300D-85DA-4415D438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5B58E-B998-DA47-BAD6-1BF882EE32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4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90BD68B-6EF6-3DA6-81E3-93FBDE5F8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3B590E-5CA1-29C2-5E3D-2E3684769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A4A191-09B4-0F83-9066-77495808A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0E846E-515A-EB4F-B4EF-2E21642553A0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5FDE41-0797-225F-0F4D-89C87D17AC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0431D6-6D0B-597A-D230-7211BC209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95B58E-B998-DA47-BAD6-1BF882EE32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22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mgi" TargetMode="External"/><Relationship Id="rId2" Type="http://schemas.openxmlformats.org/officeDocument/2006/relationships/hyperlink" Target="https://www.weforum.org/reports/future-of-jobs-202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br.org/" TargetMode="External"/><Relationship Id="rId5" Type="http://schemas.openxmlformats.org/officeDocument/2006/relationships/hyperlink" Target="https://www.ibm.com/reports" TargetMode="External"/><Relationship Id="rId4" Type="http://schemas.openxmlformats.org/officeDocument/2006/relationships/hyperlink" Target="https://www.oecd.org/skill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175933AE-F32B-246A-AAAC-8166CF968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3366" y="-486119"/>
            <a:ext cx="13644000" cy="7830238"/>
          </a:xfrm>
          <a:prstGeom prst="rect">
            <a:avLst/>
          </a:prstGeom>
        </p:spPr>
      </p:pic>
      <p:pic>
        <p:nvPicPr>
          <p:cNvPr id="10" name="Áudio 9">
            <a:extLst>
              <a:ext uri="{FF2B5EF4-FFF2-40B4-BE49-F238E27FC236}">
                <a16:creationId xmlns:a16="http://schemas.microsoft.com/office/drawing/2014/main" id="{E80653BA-A3AF-9504-055E-18183D48A1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02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7792"/>
    </mc:Choice>
    <mc:Fallback>
      <p:transition spd="slow" advTm="1977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1685A0A-191E-490D-20E8-88FF8B5F09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 flipH="1">
            <a:off x="1044676" y="-38988"/>
            <a:ext cx="9696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pt-BR" altLang="pt-BR" sz="320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"/>
              </a:rPr>
              <a:t>Cenário Atual – A Realidade do Trabalho Hoje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3107C3-C5F3-A8D6-9EE7-760335880A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7193" y="1029642"/>
            <a:ext cx="10251877" cy="192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 mundo do trabalho vive uma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transformação profunda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 A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inteligência artificial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 a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automação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avançam mais rápido do que a capacidade dos trabalhadores de acompanharem essas mudanças. Milhões de pessoas enfrentam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risco real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 substituição, enquanto empresas relatam sobrecarga, estresse e dificuldade em treinar suas equipes para o novo cenário.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 Brasil, a situação é ainda mais delicada: grande parte da força de trabalho exerce funções altamente automatizáveis e tem pouco acesso à formação digital, aumentando a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vulnerabilidade social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emocional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profissional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 Segundo </a:t>
            </a:r>
            <a:r>
              <a:rPr kumimoji="0" lang="pt-BR" altLang="pt-BR" sz="1700" b="0" i="1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dados oficiais </a:t>
            </a:r>
            <a:r>
              <a:rPr lang="pt-BR" altLang="pt-BR" sz="17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kumimoji="0" lang="pt-BR" altLang="pt-BR" sz="1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E998CE0-3E6B-1D01-D013-4B724B78B2D9}"/>
              </a:ext>
            </a:extLst>
          </p:cNvPr>
          <p:cNvSpPr txBox="1"/>
          <p:nvPr/>
        </p:nvSpPr>
        <p:spPr>
          <a:xfrm>
            <a:off x="897193" y="3195144"/>
            <a:ext cx="1078068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700" dirty="0">
                <a:solidFill>
                  <a:srgbClr val="C9A959"/>
                </a:solidFill>
              </a:rPr>
              <a:t>No Brasil:</a:t>
            </a:r>
          </a:p>
          <a:p>
            <a:r>
              <a:rPr lang="pt-BR" sz="1700" dirty="0">
                <a:solidFill>
                  <a:schemeClr val="bg1"/>
                </a:solidFill>
              </a:rPr>
              <a:t>        </a:t>
            </a:r>
            <a:r>
              <a:rPr lang="pt-BR" sz="1700" dirty="0">
                <a:solidFill>
                  <a:srgbClr val="C9A959"/>
                </a:solidFill>
              </a:rPr>
              <a:t>•</a:t>
            </a:r>
            <a:r>
              <a:rPr lang="pt-BR" sz="1700" dirty="0">
                <a:solidFill>
                  <a:schemeClr val="bg1"/>
                </a:solidFill>
              </a:rPr>
              <a:t> 56% das ocupações formais podem ser impactadas pela automação. </a:t>
            </a:r>
            <a:r>
              <a:rPr lang="pt-BR" sz="1700" dirty="0">
                <a:solidFill>
                  <a:schemeClr val="bg2">
                    <a:lumMod val="90000"/>
                  </a:schemeClr>
                </a:solidFill>
              </a:rPr>
              <a:t>(Fonte: IPEA, 2019)  </a:t>
            </a:r>
          </a:p>
          <a:p>
            <a:r>
              <a:rPr lang="pt-BR" sz="1700" dirty="0">
                <a:solidFill>
                  <a:schemeClr val="bg1"/>
                </a:solidFill>
              </a:rPr>
              <a:t>        </a:t>
            </a:r>
            <a:r>
              <a:rPr lang="pt-BR" sz="1700" dirty="0">
                <a:solidFill>
                  <a:srgbClr val="C9A959"/>
                </a:solidFill>
              </a:rPr>
              <a:t>•</a:t>
            </a:r>
            <a:r>
              <a:rPr lang="pt-BR" sz="1700" dirty="0">
                <a:solidFill>
                  <a:schemeClr val="bg1"/>
                </a:solidFill>
              </a:rPr>
              <a:t> 11% dos trabalhadores estão em funções de alta propensão à automação e 45% em funções de média-alta automação. </a:t>
            </a:r>
            <a:r>
              <a:rPr lang="pt-BR" sz="1700" dirty="0">
                <a:solidFill>
                  <a:schemeClr val="bg2">
                    <a:lumMod val="90000"/>
                  </a:schemeClr>
                </a:solidFill>
              </a:rPr>
              <a:t>(Fonte: ANPEC/IPEA, 2021)   </a:t>
            </a:r>
            <a:endParaRPr lang="pt-BR" sz="1700" dirty="0">
              <a:solidFill>
                <a:srgbClr val="C9A959"/>
              </a:solidFill>
            </a:endParaRPr>
          </a:p>
          <a:p>
            <a:r>
              <a:rPr lang="pt-BR" sz="1700" dirty="0">
                <a:solidFill>
                  <a:srgbClr val="C9A959"/>
                </a:solidFill>
              </a:rPr>
              <a:t>No Mundo:</a:t>
            </a:r>
          </a:p>
          <a:p>
            <a:r>
              <a:rPr lang="pt-BR" sz="1700" dirty="0">
                <a:solidFill>
                  <a:schemeClr val="bg1"/>
                </a:solidFill>
              </a:rPr>
              <a:t>        </a:t>
            </a:r>
            <a:r>
              <a:rPr lang="pt-BR" sz="1700" dirty="0">
                <a:solidFill>
                  <a:srgbClr val="C9A959"/>
                </a:solidFill>
              </a:rPr>
              <a:t>•</a:t>
            </a:r>
            <a:r>
              <a:rPr lang="pt-BR" sz="1700" dirty="0">
                <a:solidFill>
                  <a:schemeClr val="bg1"/>
                </a:solidFill>
              </a:rPr>
              <a:t> 170 milhões de novos empregos devem surgir até 2030, mas 92 milhões serão deslocados. </a:t>
            </a:r>
            <a:r>
              <a:rPr lang="pt-BR" sz="1700" dirty="0">
                <a:solidFill>
                  <a:schemeClr val="bg2">
                    <a:lumMod val="90000"/>
                  </a:schemeClr>
                </a:solidFill>
              </a:rPr>
              <a:t>(Fonte: World Economic Forum – Future of Jobs Report 2025)  </a:t>
            </a:r>
          </a:p>
          <a:p>
            <a:r>
              <a:rPr lang="pt-BR" sz="1700" dirty="0">
                <a:solidFill>
                  <a:schemeClr val="bg1"/>
                </a:solidFill>
              </a:rPr>
              <a:t>        </a:t>
            </a:r>
            <a:r>
              <a:rPr lang="pt-BR" sz="1700" dirty="0">
                <a:solidFill>
                  <a:srgbClr val="C9A959"/>
                </a:solidFill>
              </a:rPr>
              <a:t>• </a:t>
            </a:r>
            <a:r>
              <a:rPr lang="pt-BR" sz="1700" dirty="0">
                <a:solidFill>
                  <a:schemeClr val="bg1"/>
                </a:solidFill>
              </a:rPr>
              <a:t>68% dos trabalhadores relatam volume excessivo de trabalho e 46% estão próximos ao burnout. </a:t>
            </a:r>
            <a:r>
              <a:rPr lang="pt-BR" sz="1700" dirty="0">
                <a:solidFill>
                  <a:schemeClr val="bg2">
                    <a:lumMod val="90000"/>
                  </a:schemeClr>
                </a:solidFill>
              </a:rPr>
              <a:t>(Fonte: Microsoft – Work Trend Index 2025 / Forbes)  </a:t>
            </a:r>
          </a:p>
          <a:p>
            <a:r>
              <a:rPr lang="pt-BR" sz="1700" dirty="0">
                <a:solidFill>
                  <a:schemeClr val="bg1"/>
                </a:solidFill>
              </a:rPr>
              <a:t>       </a:t>
            </a:r>
            <a:r>
              <a:rPr lang="pt-BR" sz="1700" dirty="0">
                <a:solidFill>
                  <a:srgbClr val="C9A959"/>
                </a:solidFill>
              </a:rPr>
              <a:t> • </a:t>
            </a:r>
            <a:r>
              <a:rPr lang="pt-BR" sz="1700" dirty="0">
                <a:solidFill>
                  <a:schemeClr val="bg1"/>
                </a:solidFill>
              </a:rPr>
              <a:t>75% dos profissionais já utilizam IA no trabalho, mas 46% relatam exaustão associada à rápida adoção tecnológica. </a:t>
            </a:r>
            <a:r>
              <a:rPr lang="pt-BR" sz="1700" dirty="0">
                <a:solidFill>
                  <a:schemeClr val="bg2">
                    <a:lumMod val="90000"/>
                  </a:schemeClr>
                </a:solidFill>
              </a:rPr>
              <a:t>(Fonte: Microsoft + LinkedIn – AI at Work 2024)</a:t>
            </a:r>
          </a:p>
          <a:p>
            <a:endParaRPr lang="pt-BR" sz="170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pt-BR" sz="2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4678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8EFDF25-912F-8514-BFBE-F77DB4D238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50842" y="141648"/>
            <a:ext cx="1145754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-webkit-standard"/>
              </a:rPr>
              <a:t>Problema Central – A Exclusão na Transição Tecnológica</a:t>
            </a:r>
            <a:endParaRPr kumimoji="0" lang="pt-BR" altLang="pt-BR" sz="3200" i="0" u="none" strike="noStrike" cap="none" normalizeH="0" baseline="0" dirty="0">
              <a:ln>
                <a:noFill/>
              </a:ln>
              <a:solidFill>
                <a:srgbClr val="C9A959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71C077F-7E6D-0F74-416B-B8EAAAD4B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83" y="952119"/>
            <a:ext cx="12107917" cy="192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 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Apesar dos 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</a:rPr>
              <a:t>avanços tecnológicos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, grande parte dos trabalhadores não está preparada para acompanhar essa 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</a:rPr>
              <a:t>mudança acelerada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. Relatórios mostram que funções de baixa qualificação e administrativas têm maior risco de substituição em países emergentes, como o Brasil. Pesquisas indicam ainda aumento de 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</a:rPr>
              <a:t>burnout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,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-webkit-standard"/>
              </a:rPr>
              <a:t>sobrecarga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 e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-webkit-standard"/>
              </a:rPr>
              <a:t>insegurança profissional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associados à digitalização e ao uso crescente de IA nas empresas.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pt-BR" altLang="pt-BR" sz="17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(</a:t>
            </a:r>
            <a:r>
              <a:rPr kumimoji="0" lang="pt-BR" altLang="pt-BR" sz="1700" b="0" i="1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</a:rPr>
              <a:t>Fontes: IPEA 2019; Microsoft Work Trend Index 2025; BCG Burnout Study 2024</a:t>
            </a:r>
            <a:r>
              <a:rPr lang="pt-BR" altLang="pt-BR" sz="1700" i="1" dirty="0">
                <a:solidFill>
                  <a:schemeClr val="bg2">
                    <a:lumMod val="90000"/>
                  </a:schemeClr>
                </a:solidFill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700" i="1" dirty="0">
                <a:solidFill>
                  <a:schemeClr val="bg2">
                    <a:lumMod val="90000"/>
                  </a:schemeClr>
                </a:solidFill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700" i="1" dirty="0">
                <a:solidFill>
                  <a:srgbClr val="C9A959"/>
                </a:solidFill>
              </a:rPr>
              <a:t>Principais problemas identificados:</a:t>
            </a:r>
            <a:endParaRPr kumimoji="0" lang="pt-BR" altLang="pt-BR" sz="1700" b="0" i="0" u="none" strike="noStrike" cap="none" normalizeH="0" baseline="0" dirty="0">
              <a:ln>
                <a:noFill/>
              </a:ln>
              <a:solidFill>
                <a:srgbClr val="C9A959"/>
              </a:solidFill>
              <a:effectLst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3C2CBD8-CFEA-FE0D-170F-39E53196D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75750"/>
            <a:ext cx="12107917" cy="377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Alta vulnerabilidade à automação em ocupações operacionais e administrativas.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1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( Fonte: IPEA – “Automação e Mercado de Trabalho”, 2019)</a:t>
            </a:r>
            <a:endParaRPr kumimoji="0" lang="pt-BR" altLang="pt-BR" sz="1700" b="0" i="0" u="none" strike="noStrike" cap="none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•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Falta de requalificação acessível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especialmente para trabalhadores com menor escolaridade e renda.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1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( Fonte: OECD – “Education in Brazil”, 2021)</a:t>
            </a:r>
            <a:endParaRPr kumimoji="0" lang="pt-BR" altLang="pt-BR" sz="1700" b="0" i="0" u="none" strike="noStrike" cap="none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 •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Crescente ansiedade e insegurança sobre o futuro profissional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impulsionadas pela adoção acelerada de IA.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(Fonte: Microsoft – Work Trend Index 2025)</a:t>
            </a:r>
            <a:endParaRPr kumimoji="0" lang="pt-BR" altLang="pt-BR" sz="1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Aumento expressivo de burnout e esgotamento emocional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entre trabalhadores de diferentes setores.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(48% dos trabalhadores relatam burnout)</a:t>
            </a:r>
            <a:br>
              <a:rPr kumimoji="0" lang="pt-BR" altLang="pt-BR" sz="17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1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Fonte: BCG – “Half Of Workers Around The World Struggling With Burnout”, 2024)</a:t>
            </a:r>
            <a:endParaRPr kumimoji="0" lang="pt-BR" altLang="pt-BR" sz="1700" b="0" i="0" u="none" strike="noStrike" cap="none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Disparidade de habilidades digitais no Brasil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ampliando desigualdade e exclusão tecnológica.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1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Arial" panose="020B0604020202020204" pitchFamily="34" charset="0"/>
              </a:rPr>
              <a:t>(Fonte: OECD – “Education in Brazil”, 2021)</a:t>
            </a:r>
            <a:endParaRPr kumimoji="0" lang="pt-BR" altLang="pt-BR" sz="1700" b="0" i="0" u="none" strike="noStrike" cap="none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0"/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Empresas brasileiras relatam dificuldades em treinar equipes para novas tecnologias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especialmente IA e automação.</a:t>
            </a:r>
            <a:r>
              <a:rPr lang="pt-BR" altLang="pt-BR" sz="1700" i="1" dirty="0">
                <a:solidFill>
                  <a:schemeClr val="bg2">
                    <a:lumMod val="90000"/>
                  </a:schemeClr>
                </a:solidFill>
              </a:rPr>
              <a:t> (Fonte: Deloitte – Tech Trends Brasil, 2023)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700" b="0" i="0" u="none" strike="noStrike" cap="none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27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70D5C08-410E-018C-35DF-542DB44C5E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6855" y="234514"/>
            <a:ext cx="927012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Transição 360 Graus – Solução Proposta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rgbClr val="C9A959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58DEDDF-1D4B-DDC4-E62C-1108C24711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1" y="1229169"/>
            <a:ext cx="120868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A solução Transição 360 Graus integra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-webkit-standard"/>
              </a:rPr>
              <a:t>tecnologia,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-webkit-standard"/>
              </a:rPr>
              <a:t>dados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e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-webkit-standard"/>
              </a:rPr>
              <a:t>cuidado humano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para reduzir a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-webkit-standard"/>
              </a:rPr>
              <a:t>exclusão digital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, melhorar a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-webkit-standard"/>
              </a:rPr>
              <a:t>saúde emocional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e preparar trabalhadores para novas funções em um mercado moldado pela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-webkit-standard"/>
              </a:rPr>
              <a:t>inteligência artificial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558149F1-7015-DC47-E236-74BEE3080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03" y="1875500"/>
            <a:ext cx="12360166" cy="4847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PILARES DA SOLUÇÃO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8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    -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Requalificação Imediata e Acessível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Treinamentos curtos e práticos de habilidades digitais essenciais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700" dirty="0">
                <a:solidFill>
                  <a:srgbClr val="C9A959"/>
                </a:solidFill>
              </a:rPr>
              <a:t>    -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Trilhas de Aprendizagem Personalizadas (IA)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Sistema inteligente que cria caminhos de treinamento de acordo com o perfil do trabalhador.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700" dirty="0">
                <a:solidFill>
                  <a:srgbClr val="C9A959"/>
                </a:solidFill>
              </a:rPr>
              <a:t>   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 -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Laboratórios de Inclusão Digital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Espaços físicos e online para prática, suporte e acesso à tecnologia.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     -</a:t>
            </a:r>
            <a:r>
              <a:rPr lang="pt-BR" altLang="pt-BR" sz="1700" dirty="0">
                <a:solidFill>
                  <a:srgbClr val="C9A959"/>
                </a:solidFill>
              </a:rPr>
              <a:t>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Saúde Emocional e Prevenção de Burnout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Check-ins quinzenais, acolhimento e monitoramento emocional.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700" dirty="0">
                <a:solidFill>
                  <a:srgbClr val="C9A959"/>
                </a:solidFill>
              </a:rPr>
              <a:t>     -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Recolocação e Transição Interna Guiada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Apoio para realocar trabalhadores para funções menos automatizáveis.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     -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Acompanhamento Continuado 360°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Atualização mensal das habilidades, novos cursos e métricas de progresso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164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0B07200-77C4-AFAA-6DED-70DF5525A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46585" y="10714"/>
            <a:ext cx="900999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-webkit-standard"/>
              </a:rPr>
              <a:t>Benefícios Esperados da Solução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rgbClr val="C9A959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76C3BE6-BE13-9710-4DF2-20620279CD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1773" y="847077"/>
            <a:ext cx="98298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solução Transição 360 Graus gera benefícios imediatos e contínuos, promovendo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inclusão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digital, saúde emocional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 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maior empregabilidade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ao mesmo tempo em que fortalece a competitividade das empresas em um mercado cada vez mais tecnológi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co.</a:t>
            </a:r>
          </a:p>
        </p:txBody>
      </p:sp>
      <p:sp>
        <p:nvSpPr>
          <p:cNvPr id="61" name="Rectangle 54">
            <a:extLst>
              <a:ext uri="{FF2B5EF4-FFF2-40B4-BE49-F238E27FC236}">
                <a16:creationId xmlns:a16="http://schemas.microsoft.com/office/drawing/2014/main" id="{550252B7-F5F8-908E-692B-E48811C4C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434" y="1893516"/>
            <a:ext cx="8242962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    BENEFÍCIOS ESPERADOS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Para o Trabalhador: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- 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Aumento da empregabilidade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por meio da requalificação direcionada.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- 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Redução da ansiedade profissional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ao compreender seu caminho de evolução.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pt-BR" altLang="pt-BR" sz="1700" dirty="0">
                <a:solidFill>
                  <a:schemeClr val="bg1"/>
                </a:solidFill>
              </a:rPr>
              <a:t> -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Desenvolvimento de habilidades digitais essenciais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para o futuro.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pt-BR" altLang="pt-BR" sz="1700" dirty="0">
                <a:solidFill>
                  <a:schemeClr val="bg1"/>
                </a:solidFill>
              </a:rPr>
              <a:t> -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Suporte emocional contínuo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reduzindo burnout e insegurança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pt-BR" altLang="pt-B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tangle 55">
            <a:extLst>
              <a:ext uri="{FF2B5EF4-FFF2-40B4-BE49-F238E27FC236}">
                <a16:creationId xmlns:a16="http://schemas.microsoft.com/office/drawing/2014/main" id="{857B9D61-9590-945B-0323-240CB3EC7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773" y="3901041"/>
            <a:ext cx="8071440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Para a Empresa: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800" dirty="0">
                <a:solidFill>
                  <a:schemeClr val="bg1"/>
                </a:solidFill>
              </a:rPr>
              <a:t>  - 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Equipe mais preparada tecnologicamente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reduzindo impacto da automação.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pt-BR" altLang="pt-BR" sz="1700" dirty="0">
                <a:solidFill>
                  <a:schemeClr val="bg1"/>
                </a:solidFill>
              </a:rPr>
              <a:t> -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Maior retenção de talentos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evitando desligamentos desnecessários.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-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Ambiente mais saudável e produtivo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com menor índice de burnout.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pt-BR" altLang="pt-BR" sz="1700" dirty="0">
                <a:solidFill>
                  <a:schemeClr val="bg1"/>
                </a:solidFill>
              </a:rPr>
              <a:t>-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Dados estratégicos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para tomada de decisão em RH e gestão de pessoas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Rectangle 56">
            <a:extLst>
              <a:ext uri="{FF2B5EF4-FFF2-40B4-BE49-F238E27FC236}">
                <a16:creationId xmlns:a16="http://schemas.microsoft.com/office/drawing/2014/main" id="{7A655309-8455-64C4-FDD1-DC5B86AB1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42" y="5462291"/>
            <a:ext cx="781335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      Para a Sociedade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800" dirty="0">
                <a:solidFill>
                  <a:schemeClr val="bg1"/>
                </a:solidFill>
              </a:rPr>
              <a:t>         </a:t>
            </a:r>
            <a:r>
              <a:rPr lang="pt-BR" altLang="pt-BR" sz="1700" dirty="0">
                <a:solidFill>
                  <a:schemeClr val="bg1"/>
                </a:solidFill>
              </a:rPr>
              <a:t>- 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Inclusão digital ampla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reduzindo desigualdade tecnológica.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   -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Fortalecimento da economia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com trabalhadores mais qualificados.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lang="pt-BR" altLang="pt-BR" sz="1700" dirty="0">
                <a:solidFill>
                  <a:schemeClr val="bg1"/>
                </a:solidFill>
              </a:rPr>
              <a:t> -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Redução do desemprego estrutural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causado pela automação.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-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Promove transformação social positiva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através de tecnologia acessível.</a:t>
            </a:r>
          </a:p>
        </p:txBody>
      </p:sp>
    </p:spTree>
    <p:extLst>
      <p:ext uri="{BB962C8B-B14F-4D97-AF65-F5344CB8AC3E}">
        <p14:creationId xmlns:p14="http://schemas.microsoft.com/office/powerpoint/2010/main" val="2466535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401F1EA-E92F-7416-EDB4-D86D19E908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37183"/>
            <a:ext cx="94438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Impactos</a:t>
            </a:r>
            <a:r>
              <a:rPr kumimoji="0" lang="pt-BR" altLang="pt-BR" sz="36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 da Solução Transição 360 Graus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rgbClr val="C9A959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55F2B2B-F7FB-AB03-10A2-B3D375B1F5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14346"/>
            <a:ext cx="10576034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A implementação da Transição 360 Graus gera transformações profundas ao promover inclusão, reduzir vulnerabilidades e preparar trabalhadores e empresas para o futuro do trabalho. Seus impactos vão além da capacitação: eles fortalecem carreiras, ambientes e comunidades inteiras.</a:t>
            </a:r>
            <a:endParaRPr kumimoji="0" lang="pt-BR" altLang="pt-BR" sz="1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4C4F1E5-7C37-3277-AA9C-866019CFF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41" y="1906898"/>
            <a:ext cx="9486892" cy="1800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IMPACTOS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9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Impactos no Trabalhador: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solidFill>
                  <a:schemeClr val="bg1"/>
                </a:solidFill>
              </a:rPr>
              <a:t>-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Aumento real da confiança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na própria capacidade de atuar no mercado digital.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pt-BR" altLang="pt-BR" sz="1700" dirty="0">
                <a:solidFill>
                  <a:schemeClr val="bg1"/>
                </a:solidFill>
              </a:rPr>
              <a:t>-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Diminuição significativa da ansiedade e do burnout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graças ao suporte emocional contínuo.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 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Aumento da renda e empregabilidade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por meio de requalificação efetiva.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 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Fortalecimento da autonomia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ao dominar habilidades digitais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61E0100-2144-0F5E-38FA-6631C8033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41" y="3828932"/>
            <a:ext cx="964238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Impactos na Empresa: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- 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Redução de desligamentos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por obsolescência de funções.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Melhora na produtividade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com funcionários mais capacitados e emocionalmente equilibrados.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 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Equipes mais diversas e inclusivas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integrando trabalhadores antes excluídos do digital.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 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Tomada de decisão baseada em dados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sobre talentos e formação.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54086113-18F0-22C8-3ECB-B09ED7002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036956"/>
            <a:ext cx="7976030" cy="1646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Impactos na Sociedade: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800" dirty="0">
                <a:solidFill>
                  <a:schemeClr val="bg1"/>
                </a:solidFill>
              </a:rPr>
              <a:t> </a:t>
            </a:r>
            <a:r>
              <a:rPr lang="pt-BR" altLang="pt-BR" sz="1700" dirty="0">
                <a:solidFill>
                  <a:schemeClr val="bg1"/>
                </a:solidFill>
              </a:rPr>
              <a:t>- 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Redução da desigualdade digital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e do desemprego estrutural.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lang="pt-BR" altLang="pt-BR" sz="1700" dirty="0">
                <a:solidFill>
                  <a:schemeClr val="bg1"/>
                </a:solidFill>
              </a:rPr>
              <a:t>- 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Fortalecimento econômico regional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com mão de obra qualificada.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 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Construção de comunidades mais resilientes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diante da automação.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 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Transformação social positiva</a:t>
            </a: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conectando tecnologia, inclusão e bem-estar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0218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E5B41FA3-668B-12FA-B8BD-ED75C7A706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1500" y="830425"/>
            <a:ext cx="944119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Transição 360 Graus foi desenvolvida para atender trabalhadores vulneráveis ao avanço da automação, oferecendo inclusão digital, requalificação real e suporte emocional. As personas abaixo representam o perfil real dos principais beneficiados pela solução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B8C2B55-5470-8E52-C9FF-1F4C21F43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05" y="1958494"/>
            <a:ext cx="552083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PERSONA 1 — Trabalhador Operacional (Alta vulnerabilidade)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Nome fictício: Carlos, 42 anos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Função: Auxiliar administrativo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Escolaridade: Ensino médio completo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Dor principal: medo de perder o emprego para a automação.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Necessidades: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aprender habilidades digitais básicas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reduzir ansiedade e insegurança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suporte para migrar para função atualizada</a:t>
            </a: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Como a solução ajuda: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trilhas básicas personalizadas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laboratório digital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acompanhamento emocional quinzenal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14DE809-38A5-ACCC-74E9-BE8A2F9D2A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23529" y="30778"/>
            <a:ext cx="566815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-webkit-standard"/>
              </a:rPr>
              <a:t>Público-Alvo – Personas (Parte 1)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rgbClr val="C9A959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A2B0015-5861-BBD2-7408-D2F0621B2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839" y="2003911"/>
            <a:ext cx="4974293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PERSONA 2 — Jovem Trabalhadora em Início de Carreira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Nome fictício: Ana, 23 anos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Função: Atendente / suporte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Escolaridade: Ensino médio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Dor principal: falta de acesso à tecnologia e formação.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Necessidades: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oportunidade de qualificação gratuita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espaço físico para estudar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orientação profissional</a:t>
            </a: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Como a solução ajuda: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acesso ao laboratório digital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trilha IA para iniciantes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certificação para aumentar empregabilidade</a:t>
            </a:r>
          </a:p>
        </p:txBody>
      </p:sp>
    </p:spTree>
    <p:extLst>
      <p:ext uri="{BB962C8B-B14F-4D97-AF65-F5344CB8AC3E}">
        <p14:creationId xmlns:p14="http://schemas.microsoft.com/office/powerpoint/2010/main" val="3389629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2EBE7FB-FB73-71CE-B592-889E71B96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55882" y="115409"/>
            <a:ext cx="658385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Público-Alvo – Personas (Parte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2)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C9A959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DE77177-41DD-20F7-B78A-84F2CF8384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4427" y="1289953"/>
            <a:ext cx="5321573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PERSONA 3 — Trabalhadora com Alta Pressão Emocional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Nome fictício: Sandra, 38 anos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Função: Analista sobrecarregada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Escolaridade: Ensino superior incompleto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Dor principal: burnout, ansiedade e dificuldade de manter foco.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700" b="1" dirty="0">
              <a:solidFill>
                <a:schemeClr val="bg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Necessidades: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suporte emocional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organização do trabalho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atualização tecnológica</a:t>
            </a:r>
            <a:endParaRPr kumimoji="0" lang="pt-BR" altLang="pt-BR" sz="1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Como a solução ajuda: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check-in emocional quinzenal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trilha de produtividade + IA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equilíbrio entre bem-estar e performance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BC5781C-AECB-7497-9E34-70B382875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6287" y="1289953"/>
            <a:ext cx="6666898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PERSONA 4  — Profissional Maduro em Risco de Desatualização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Nome fictício: Roberto, 50 anos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Função: Coordenador operacional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Escolaridade: Ensino médio técnico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Dor principal: sente que está ficando “para trás” com a chegada da 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Necessidades: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reciclagem profissional atual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aprender tecnologias sem dificuldade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confiança para liderar times digitalizados</a:t>
            </a:r>
            <a:endParaRPr kumimoji="0" lang="pt-BR" altLang="pt-BR" sz="1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Como a solução ajuda: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trilha personalizada para líderes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alfabetização digital simplificada</a:t>
            </a:r>
            <a:b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IA identifica pontos fracos e recomenda reforço contínuo</a:t>
            </a:r>
          </a:p>
        </p:txBody>
      </p:sp>
    </p:spTree>
    <p:extLst>
      <p:ext uri="{BB962C8B-B14F-4D97-AF65-F5344CB8AC3E}">
        <p14:creationId xmlns:p14="http://schemas.microsoft.com/office/powerpoint/2010/main" val="3111740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D94FA3A-DEC7-BA4A-0306-76A1CF354A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-1303282" y="0"/>
            <a:ext cx="1342066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Arquitetura da Solução</a:t>
            </a:r>
            <a:b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     Transição 360 Graus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rgbClr val="C9A959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971FFC-9037-F896-8789-14C25CEFBF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3390" y="1267955"/>
            <a:ext cx="9850931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A arquitetura da solução Transição 360 Graus integra dados, inteligência artificial e módulos de suporte humano para criar um fluxo completo de requalificação, inclusão digital e bem-estar emocional. O ecossistema funciona de forma simples, automatizada e segura, garantindo evolução contínua do trabalhador.</a:t>
            </a:r>
            <a:endParaRPr kumimoji="0" lang="pt-BR" altLang="pt-BR" sz="1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B5D10739-6C7A-9BE7-5A2F-273556B2D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148" y="2714106"/>
            <a:ext cx="274693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solidFill>
                  <a:schemeClr val="bg1"/>
                </a:solidFill>
              </a:rPr>
              <a:t>COLETA DE DADOS</a:t>
            </a:r>
            <a:br>
              <a:rPr lang="pt-BR" altLang="pt-BR" dirty="0">
                <a:solidFill>
                  <a:schemeClr val="bg1"/>
                </a:solidFill>
              </a:rPr>
            </a:br>
            <a:r>
              <a:rPr lang="pt-BR" altLang="pt-BR" dirty="0">
                <a:solidFill>
                  <a:schemeClr val="bg1"/>
                </a:solidFill>
              </a:rPr>
              <a:t>• Perfil do colaborador</a:t>
            </a:r>
            <a:br>
              <a:rPr lang="pt-BR" altLang="pt-BR" dirty="0">
                <a:solidFill>
                  <a:schemeClr val="bg1"/>
                </a:solidFill>
              </a:rPr>
            </a:br>
            <a:r>
              <a:rPr lang="pt-BR" altLang="pt-BR" dirty="0">
                <a:solidFill>
                  <a:schemeClr val="bg1"/>
                </a:solidFill>
              </a:rPr>
              <a:t>• Skills atuais</a:t>
            </a:r>
            <a:br>
              <a:rPr lang="pt-BR" altLang="pt-BR" dirty="0">
                <a:solidFill>
                  <a:schemeClr val="bg1"/>
                </a:solidFill>
              </a:rPr>
            </a:br>
            <a:r>
              <a:rPr lang="pt-BR" altLang="pt-BR" dirty="0">
                <a:solidFill>
                  <a:schemeClr val="bg1"/>
                </a:solidFill>
              </a:rPr>
              <a:t>• Risco de automação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A404002-ADB2-4C49-DF1E-17C7BE714B35}"/>
              </a:ext>
            </a:extLst>
          </p:cNvPr>
          <p:cNvSpPr>
            <a:spLocks/>
          </p:cNvSpPr>
          <p:nvPr/>
        </p:nvSpPr>
        <p:spPr>
          <a:xfrm>
            <a:off x="764078" y="2606977"/>
            <a:ext cx="2536170" cy="1440000"/>
          </a:xfrm>
          <a:prstGeom prst="rect">
            <a:avLst/>
          </a:prstGeom>
          <a:noFill/>
          <a:ln w="28575">
            <a:solidFill>
              <a:srgbClr val="C9A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C680F7B6-8F8E-BB9F-D7DE-A5E0EFDEE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167" y="5161408"/>
            <a:ext cx="2448906" cy="1477328"/>
          </a:xfrm>
          <a:prstGeom prst="rect">
            <a:avLst/>
          </a:prstGeom>
          <a:noFill/>
          <a:ln w="28575">
            <a:solidFill>
              <a:srgbClr val="C9A95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dirty="0">
                <a:solidFill>
                  <a:schemeClr val="bg1"/>
                </a:solidFill>
                <a:latin typeface="+mn-lt"/>
              </a:rPr>
              <a:t>IA + ANALYTICS</a:t>
            </a:r>
            <a:br>
              <a:rPr lang="pt-BR" altLang="pt-BR" dirty="0">
                <a:solidFill>
                  <a:schemeClr val="bg1"/>
                </a:solidFill>
                <a:latin typeface="+mn-lt"/>
              </a:rPr>
            </a:br>
            <a:r>
              <a:rPr lang="pt-BR" altLang="pt-BR" dirty="0">
                <a:solidFill>
                  <a:schemeClr val="bg1"/>
                </a:solidFill>
                <a:latin typeface="+mn-lt"/>
              </a:rPr>
              <a:t>• Identificação de gaps</a:t>
            </a:r>
            <a:br>
              <a:rPr lang="pt-BR" altLang="pt-BR" dirty="0">
                <a:solidFill>
                  <a:schemeClr val="bg1"/>
                </a:solidFill>
                <a:latin typeface="+mn-lt"/>
              </a:rPr>
            </a:br>
            <a:r>
              <a:rPr lang="pt-BR" altLang="pt-BR" dirty="0">
                <a:solidFill>
                  <a:schemeClr val="bg1"/>
                </a:solidFill>
                <a:latin typeface="+mn-lt"/>
              </a:rPr>
              <a:t>• Previsões de risco</a:t>
            </a:r>
            <a:br>
              <a:rPr lang="pt-BR" altLang="pt-BR" dirty="0">
                <a:solidFill>
                  <a:schemeClr val="bg1"/>
                </a:solidFill>
                <a:latin typeface="+mn-lt"/>
              </a:rPr>
            </a:br>
            <a:r>
              <a:rPr lang="pt-BR" altLang="pt-BR" dirty="0">
                <a:solidFill>
                  <a:schemeClr val="bg1"/>
                </a:solidFill>
                <a:latin typeface="+mn-lt"/>
              </a:rPr>
              <a:t>• Recomendações inteligentes</a:t>
            </a:r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4D5370FF-9500-C7F2-E1E7-42E0D565A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8106" y="3924770"/>
            <a:ext cx="2757842" cy="1200329"/>
          </a:xfrm>
          <a:prstGeom prst="rect">
            <a:avLst/>
          </a:prstGeom>
          <a:noFill/>
          <a:ln w="28575">
            <a:solidFill>
              <a:srgbClr val="C9A95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solidFill>
                  <a:schemeClr val="bg1"/>
                </a:solidFill>
              </a:rPr>
              <a:t>TRILHA PERSONALIZADA</a:t>
            </a:r>
            <a:br>
              <a:rPr lang="pt-BR" altLang="pt-BR" dirty="0">
                <a:solidFill>
                  <a:schemeClr val="bg1"/>
                </a:solidFill>
              </a:rPr>
            </a:br>
            <a:r>
              <a:rPr lang="pt-BR" altLang="pt-BR" dirty="0">
                <a:solidFill>
                  <a:schemeClr val="bg1"/>
                </a:solidFill>
              </a:rPr>
              <a:t>• Microlearning</a:t>
            </a:r>
            <a:br>
              <a:rPr lang="pt-BR" altLang="pt-BR" dirty="0">
                <a:solidFill>
                  <a:schemeClr val="bg1"/>
                </a:solidFill>
              </a:rPr>
            </a:br>
            <a:r>
              <a:rPr lang="pt-BR" altLang="pt-BR" dirty="0">
                <a:solidFill>
                  <a:schemeClr val="bg1"/>
                </a:solidFill>
              </a:rPr>
              <a:t>• Mentoria + IA</a:t>
            </a:r>
            <a:br>
              <a:rPr lang="pt-BR" altLang="pt-BR" dirty="0">
                <a:solidFill>
                  <a:schemeClr val="bg1"/>
                </a:solidFill>
              </a:rPr>
            </a:br>
            <a:r>
              <a:rPr lang="pt-BR" altLang="pt-BR" dirty="0">
                <a:solidFill>
                  <a:schemeClr val="bg1"/>
                </a:solidFill>
              </a:rPr>
              <a:t>• Feedback contínuo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17531E57-CF9C-7D4F-6E6B-EA8A8BB707DC}"/>
              </a:ext>
            </a:extLst>
          </p:cNvPr>
          <p:cNvSpPr/>
          <p:nvPr/>
        </p:nvSpPr>
        <p:spPr>
          <a:xfrm>
            <a:off x="7225040" y="3804934"/>
            <a:ext cx="2160015" cy="1440000"/>
          </a:xfrm>
          <a:prstGeom prst="rect">
            <a:avLst/>
          </a:prstGeom>
          <a:noFill/>
          <a:ln>
            <a:solidFill>
              <a:srgbClr val="C9A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EC8CBA77-C3BF-6FF2-C82A-0F1DDE0B8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5452" y="3849875"/>
            <a:ext cx="2189596" cy="14773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solidFill>
                  <a:schemeClr val="bg1"/>
                </a:solidFill>
                <a:latin typeface="-webkit-standard"/>
              </a:rPr>
              <a:t>RESULTADOS</a:t>
            </a:r>
            <a:br>
              <a:rPr lang="pt-BR" altLang="pt-BR" dirty="0">
                <a:solidFill>
                  <a:schemeClr val="bg1"/>
                </a:solidFill>
                <a:latin typeface="-webkit-standard"/>
              </a:rPr>
            </a:br>
            <a:r>
              <a:rPr lang="pt-BR" altLang="pt-BR" dirty="0">
                <a:solidFill>
                  <a:schemeClr val="bg1"/>
                </a:solidFill>
                <a:latin typeface="-webkit-standard"/>
              </a:rPr>
              <a:t>• Nova função</a:t>
            </a:r>
            <a:br>
              <a:rPr lang="pt-BR" altLang="pt-BR" dirty="0">
                <a:solidFill>
                  <a:schemeClr val="bg1"/>
                </a:solidFill>
                <a:latin typeface="-webkit-standard"/>
              </a:rPr>
            </a:br>
            <a:r>
              <a:rPr lang="pt-BR" altLang="pt-BR" dirty="0">
                <a:solidFill>
                  <a:schemeClr val="bg1"/>
                </a:solidFill>
                <a:latin typeface="-webkit-standard"/>
              </a:rPr>
              <a:t>• Redução de risco</a:t>
            </a:r>
            <a:br>
              <a:rPr lang="pt-BR" altLang="pt-BR" dirty="0">
                <a:solidFill>
                  <a:schemeClr val="bg1"/>
                </a:solidFill>
                <a:latin typeface="-webkit-standard"/>
              </a:rPr>
            </a:br>
            <a:r>
              <a:rPr lang="pt-BR" altLang="pt-BR" dirty="0">
                <a:solidFill>
                  <a:schemeClr val="bg1"/>
                </a:solidFill>
                <a:latin typeface="-webkit-standard"/>
              </a:rPr>
              <a:t>• Aumento de produtividade</a:t>
            </a:r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B9788C7D-A008-BBF1-3999-0E9C734CD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8400" y="5384756"/>
            <a:ext cx="3420000" cy="1477328"/>
          </a:xfrm>
          <a:prstGeom prst="rect">
            <a:avLst/>
          </a:prstGeom>
          <a:noFill/>
          <a:ln w="28575">
            <a:solidFill>
              <a:srgbClr val="C9A95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COMO FUNCIONA NA PRÁTICA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                                                                                                                             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IA envia alertas • RH monitora evolução • Colaborador acompanha progresso • Gestores analisam impacto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6" name="Conector de Seta Reta 65">
            <a:extLst>
              <a:ext uri="{FF2B5EF4-FFF2-40B4-BE49-F238E27FC236}">
                <a16:creationId xmlns:a16="http://schemas.microsoft.com/office/drawing/2014/main" id="{1E0306A2-CB22-1B58-D2BE-1FF18151797E}"/>
              </a:ext>
            </a:extLst>
          </p:cNvPr>
          <p:cNvCxnSpPr/>
          <p:nvPr/>
        </p:nvCxnSpPr>
        <p:spPr>
          <a:xfrm>
            <a:off x="6674069" y="5125099"/>
            <a:ext cx="4414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ector de Seta Reta 67">
            <a:extLst>
              <a:ext uri="{FF2B5EF4-FFF2-40B4-BE49-F238E27FC236}">
                <a16:creationId xmlns:a16="http://schemas.microsoft.com/office/drawing/2014/main" id="{28C85F35-F23F-1AFB-E737-320C08565E09}"/>
              </a:ext>
            </a:extLst>
          </p:cNvPr>
          <p:cNvCxnSpPr/>
          <p:nvPr/>
        </p:nvCxnSpPr>
        <p:spPr>
          <a:xfrm>
            <a:off x="3342290" y="5078312"/>
            <a:ext cx="3258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>
            <a:extLst>
              <a:ext uri="{FF2B5EF4-FFF2-40B4-BE49-F238E27FC236}">
                <a16:creationId xmlns:a16="http://schemas.microsoft.com/office/drawing/2014/main" id="{D70D9FCA-BEB7-ECB4-571E-A81163FD1BF5}"/>
              </a:ext>
            </a:extLst>
          </p:cNvPr>
          <p:cNvCxnSpPr/>
          <p:nvPr/>
        </p:nvCxnSpPr>
        <p:spPr>
          <a:xfrm>
            <a:off x="1839310" y="4088524"/>
            <a:ext cx="0" cy="777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>
            <a:extLst>
              <a:ext uri="{FF2B5EF4-FFF2-40B4-BE49-F238E27FC236}">
                <a16:creationId xmlns:a16="http://schemas.microsoft.com/office/drawing/2014/main" id="{449FBA73-1581-C983-E489-78D6743CB582}"/>
              </a:ext>
            </a:extLst>
          </p:cNvPr>
          <p:cNvCxnSpPr/>
          <p:nvPr/>
        </p:nvCxnSpPr>
        <p:spPr>
          <a:xfrm>
            <a:off x="9501352" y="4687614"/>
            <a:ext cx="5570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>
            <a:extLst>
              <a:ext uri="{FF2B5EF4-FFF2-40B4-BE49-F238E27FC236}">
                <a16:creationId xmlns:a16="http://schemas.microsoft.com/office/drawing/2014/main" id="{9626ED13-4AAE-91E5-11ED-FADD3E16E378}"/>
              </a:ext>
            </a:extLst>
          </p:cNvPr>
          <p:cNvCxnSpPr/>
          <p:nvPr/>
        </p:nvCxnSpPr>
        <p:spPr>
          <a:xfrm>
            <a:off x="10037379" y="4729655"/>
            <a:ext cx="0" cy="5152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398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51D105D-8DEC-641C-B5EF-84A4009C07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890344" y="200244"/>
            <a:ext cx="82322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-webkit-standard"/>
              </a:rPr>
              <a:t>Fluxo de Dados da Solução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rgbClr val="C9A959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BAB8935-A70D-53F9-4CB0-FE18E6B41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21" y="1779978"/>
            <a:ext cx="253466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solidFill>
                  <a:srgbClr val="C9A959"/>
                </a:solidFill>
                <a:latin typeface="Arial" panose="020B0604020202020204" pitchFamily="34" charset="0"/>
              </a:rPr>
              <a:t>Entrada de dados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C9A959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Dados do colaborador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Skills e histórico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Avaliação inicial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336452-8652-431A-540F-7E566B4A9761}"/>
              </a:ext>
            </a:extLst>
          </p:cNvPr>
          <p:cNvSpPr txBox="1"/>
          <p:nvPr/>
        </p:nvSpPr>
        <p:spPr>
          <a:xfrm>
            <a:off x="3594538" y="2017986"/>
            <a:ext cx="2238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u="none" strike="noStrike" dirty="0">
                <a:solidFill>
                  <a:schemeClr val="bg1"/>
                </a:solidFill>
                <a:effectLst/>
              </a:rPr>
              <a:t>IA analisa gaps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u="none" strike="noStrike" dirty="0">
                <a:solidFill>
                  <a:schemeClr val="bg1"/>
                </a:solidFill>
                <a:effectLst/>
              </a:rPr>
              <a:t>Modelos preditivos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u="none" strike="noStrike" dirty="0">
                <a:solidFill>
                  <a:schemeClr val="bg1"/>
                </a:solidFill>
                <a:effectLst/>
              </a:rPr>
              <a:t>Matching da trilha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6B8E37B-05DF-AD6F-EAF0-0533244E2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182" y="2156422"/>
            <a:ext cx="26029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  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A214D44-DAB6-4DA4-C67C-CBE100708E82}"/>
              </a:ext>
            </a:extLst>
          </p:cNvPr>
          <p:cNvSpPr/>
          <p:nvPr/>
        </p:nvSpPr>
        <p:spPr>
          <a:xfrm>
            <a:off x="389417" y="1779978"/>
            <a:ext cx="2617076" cy="1326141"/>
          </a:xfrm>
          <a:prstGeom prst="rect">
            <a:avLst/>
          </a:prstGeom>
          <a:noFill/>
          <a:ln>
            <a:solidFill>
              <a:srgbClr val="C9A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B4191FC-AC76-4818-97F8-9C4F9110D370}"/>
              </a:ext>
            </a:extLst>
          </p:cNvPr>
          <p:cNvSpPr/>
          <p:nvPr/>
        </p:nvSpPr>
        <p:spPr>
          <a:xfrm>
            <a:off x="3497860" y="1773197"/>
            <a:ext cx="2602982" cy="1326141"/>
          </a:xfrm>
          <a:prstGeom prst="rect">
            <a:avLst/>
          </a:prstGeom>
          <a:noFill/>
          <a:ln>
            <a:solidFill>
              <a:srgbClr val="C9A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9905117-916F-8BD9-F1E9-CE3D53C7267E}"/>
              </a:ext>
            </a:extLst>
          </p:cNvPr>
          <p:cNvSpPr/>
          <p:nvPr/>
        </p:nvSpPr>
        <p:spPr>
          <a:xfrm>
            <a:off x="4180691" y="4069922"/>
            <a:ext cx="2644187" cy="1528235"/>
          </a:xfrm>
          <a:prstGeom prst="rect">
            <a:avLst/>
          </a:prstGeom>
          <a:noFill/>
          <a:ln>
            <a:solidFill>
              <a:srgbClr val="C9A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AE6A0E7-C4CA-1C8E-75A0-56281469D3DB}"/>
              </a:ext>
            </a:extLst>
          </p:cNvPr>
          <p:cNvSpPr/>
          <p:nvPr/>
        </p:nvSpPr>
        <p:spPr>
          <a:xfrm>
            <a:off x="7646316" y="4069923"/>
            <a:ext cx="3247696" cy="1528234"/>
          </a:xfrm>
          <a:prstGeom prst="rect">
            <a:avLst/>
          </a:prstGeom>
          <a:noFill/>
          <a:ln>
            <a:solidFill>
              <a:srgbClr val="C9A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104E13F-74E5-5137-372C-91EBCB512206}"/>
              </a:ext>
            </a:extLst>
          </p:cNvPr>
          <p:cNvSpPr txBox="1"/>
          <p:nvPr/>
        </p:nvSpPr>
        <p:spPr>
          <a:xfrm>
            <a:off x="3594538" y="1798887"/>
            <a:ext cx="2409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9A959"/>
                </a:solidFill>
              </a:rPr>
              <a:t>IA/Processamento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B84B3BA-96CB-EF44-9AA9-976CCAF688BE}"/>
              </a:ext>
            </a:extLst>
          </p:cNvPr>
          <p:cNvSpPr txBox="1"/>
          <p:nvPr/>
        </p:nvSpPr>
        <p:spPr>
          <a:xfrm>
            <a:off x="7646316" y="437237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Feedback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IA aprende com novos dados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Ajusta recomendações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6C88087-D93F-641C-7378-94230C28FD6E}"/>
              </a:ext>
            </a:extLst>
          </p:cNvPr>
          <p:cNvSpPr txBox="1"/>
          <p:nvPr/>
        </p:nvSpPr>
        <p:spPr>
          <a:xfrm>
            <a:off x="4297972" y="4120830"/>
            <a:ext cx="24096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Saída/ Entrega da solução                           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Trilha personalizada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Recomendações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Alertas de progresso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7B634D08-D53F-E39B-C5E2-2D48A5B0E00E}"/>
              </a:ext>
            </a:extLst>
          </p:cNvPr>
          <p:cNvCxnSpPr/>
          <p:nvPr/>
        </p:nvCxnSpPr>
        <p:spPr>
          <a:xfrm>
            <a:off x="3090041" y="2341088"/>
            <a:ext cx="4078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20FDCDEC-669E-0121-8EF9-1DA8DCF48AE1}"/>
              </a:ext>
            </a:extLst>
          </p:cNvPr>
          <p:cNvCxnSpPr/>
          <p:nvPr/>
        </p:nvCxnSpPr>
        <p:spPr>
          <a:xfrm>
            <a:off x="5171090" y="3257306"/>
            <a:ext cx="0" cy="589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46325BAC-0B83-DFF8-DCBB-C68450281B77}"/>
              </a:ext>
            </a:extLst>
          </p:cNvPr>
          <p:cNvCxnSpPr/>
          <p:nvPr/>
        </p:nvCxnSpPr>
        <p:spPr>
          <a:xfrm>
            <a:off x="7006458" y="4971393"/>
            <a:ext cx="5084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095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2CBCE-C93A-7256-59A2-2E8924315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3200" b="1" dirty="0">
                <a:solidFill>
                  <a:srgbClr val="C9A959"/>
                </a:solidFill>
              </a:rPr>
              <a:t>Tecnologias Utilizadas</a:t>
            </a:r>
            <a:br>
              <a:rPr lang="pt-BR" dirty="0"/>
            </a:b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189E5-1DE8-8C65-3DD9-BA4DB254B7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7159" y="2412969"/>
            <a:ext cx="370985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Inteligência Artificial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Modelos preditivos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Análise de gaps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Recomendação inteligent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F22674-81A6-C509-414B-975F29283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1413" y="2045416"/>
            <a:ext cx="3600000" cy="1800000"/>
          </a:xfrm>
          <a:prstGeom prst="rect">
            <a:avLst/>
          </a:prstGeom>
          <a:noFill/>
          <a:ln>
            <a:solidFill>
              <a:srgbClr val="C9A959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Analytics &amp;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Monitoramento em tempo real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Indicadores de evolução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Alertas e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536BE05-EBE8-A652-D193-D83F0528B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7544" y="4849059"/>
            <a:ext cx="3673869" cy="1800000"/>
          </a:xfrm>
          <a:prstGeom prst="rect">
            <a:avLst/>
          </a:prstGeom>
          <a:noFill/>
          <a:ln>
            <a:solidFill>
              <a:srgbClr val="C9A959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Banco de Dados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Armazenamento seguro dos perfis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Histórico de evolução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Skills do colaborador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DD1E552-F8C2-49C4-EC82-146FC7B2A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2966" y="445912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9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6C09409-70CE-3900-A05C-D8F8A42A0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159" y="4849059"/>
            <a:ext cx="3600000" cy="1800000"/>
          </a:xfrm>
          <a:prstGeom prst="rect">
            <a:avLst/>
          </a:prstGeom>
          <a:noFill/>
          <a:ln>
            <a:solidFill>
              <a:srgbClr val="C9A959"/>
            </a:solidFill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Plataforma de Microlearning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Trilhas personalizadas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Conteúdos adaptativos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Experiência contínua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D36C0C1-05D1-3074-153A-04331F1CF293}"/>
              </a:ext>
            </a:extLst>
          </p:cNvPr>
          <p:cNvSpPr/>
          <p:nvPr/>
        </p:nvSpPr>
        <p:spPr>
          <a:xfrm>
            <a:off x="1232088" y="2048201"/>
            <a:ext cx="3600000" cy="1800000"/>
          </a:xfrm>
          <a:prstGeom prst="rect">
            <a:avLst/>
          </a:prstGeom>
          <a:noFill/>
          <a:ln>
            <a:solidFill>
              <a:srgbClr val="C9A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456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3F2A41D5-FB76-D3FB-8CD9-4D20278F87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699705" y="161942"/>
            <a:ext cx="45424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-webkit-standard"/>
              </a:rPr>
              <a:t>Métricas de Sucesso (KPIs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-webkit-standard"/>
              </a:rPr>
              <a:t>)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C9A959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EFDD2FF-40CB-0714-B489-0BC20B7B8DE1}"/>
              </a:ext>
            </a:extLst>
          </p:cNvPr>
          <p:cNvSpPr/>
          <p:nvPr/>
        </p:nvSpPr>
        <p:spPr>
          <a:xfrm flipV="1">
            <a:off x="630887" y="2240770"/>
            <a:ext cx="3420000" cy="1440000"/>
          </a:xfrm>
          <a:prstGeom prst="rect">
            <a:avLst/>
          </a:prstGeom>
          <a:noFill/>
          <a:ln>
            <a:solidFill>
              <a:srgbClr val="C9A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BC07257-D51B-2179-03CE-FBD835E3B667}"/>
              </a:ext>
            </a:extLst>
          </p:cNvPr>
          <p:cNvSpPr/>
          <p:nvPr/>
        </p:nvSpPr>
        <p:spPr>
          <a:xfrm>
            <a:off x="4494920" y="2201377"/>
            <a:ext cx="3420000" cy="1440000"/>
          </a:xfrm>
          <a:prstGeom prst="rect">
            <a:avLst/>
          </a:prstGeom>
          <a:noFill/>
          <a:ln>
            <a:solidFill>
              <a:srgbClr val="C9A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2375706-3F1B-3191-EB72-C1C809F79BC2}"/>
              </a:ext>
            </a:extLst>
          </p:cNvPr>
          <p:cNvSpPr/>
          <p:nvPr/>
        </p:nvSpPr>
        <p:spPr>
          <a:xfrm>
            <a:off x="8358953" y="2206092"/>
            <a:ext cx="3420000" cy="1440000"/>
          </a:xfrm>
          <a:prstGeom prst="rect">
            <a:avLst/>
          </a:prstGeom>
          <a:noFill/>
          <a:ln>
            <a:solidFill>
              <a:srgbClr val="C9A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F503C2B-5C25-18BC-D04F-356D080579CE}"/>
              </a:ext>
            </a:extLst>
          </p:cNvPr>
          <p:cNvSpPr/>
          <p:nvPr/>
        </p:nvSpPr>
        <p:spPr>
          <a:xfrm>
            <a:off x="1942511" y="4598235"/>
            <a:ext cx="3420000" cy="1440000"/>
          </a:xfrm>
          <a:prstGeom prst="rect">
            <a:avLst/>
          </a:prstGeom>
          <a:noFill/>
          <a:ln>
            <a:solidFill>
              <a:srgbClr val="C9A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EEB9870-862D-0347-CD80-FCF8927DACFD}"/>
              </a:ext>
            </a:extLst>
          </p:cNvPr>
          <p:cNvSpPr/>
          <p:nvPr/>
        </p:nvSpPr>
        <p:spPr>
          <a:xfrm>
            <a:off x="6547634" y="4640276"/>
            <a:ext cx="3420000" cy="1440000"/>
          </a:xfrm>
          <a:prstGeom prst="rect">
            <a:avLst/>
          </a:prstGeom>
          <a:noFill/>
          <a:ln>
            <a:solidFill>
              <a:srgbClr val="C9A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126689D-CB8C-42F5-CA83-540D1C285006}"/>
              </a:ext>
            </a:extLst>
          </p:cNvPr>
          <p:cNvSpPr txBox="1"/>
          <p:nvPr/>
        </p:nvSpPr>
        <p:spPr>
          <a:xfrm>
            <a:off x="1387366" y="2480441"/>
            <a:ext cx="25855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Evolução de Skills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Gap técnico reduzido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Habilidades desenvolvidas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DBBC6F17-26B2-A79B-417C-8F42CB8B8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269" y="2593087"/>
            <a:ext cx="241091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Engajamento na Trilha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• Conclusão das atividades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• Participação semanal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00EEDD8B-6D75-1958-D1FC-614EABD6E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6637" y="2665106"/>
            <a:ext cx="234551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Redução do Risco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Menor risco da função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Aderência ao futuro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75F6D3BB-DE23-D6B9-7891-B2CDEB03D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4366" y="4902736"/>
            <a:ext cx="220521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Recolocação Interna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• Nova função assumida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• Tempo de transição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05736C22-3AD9-A069-9148-FD08846C5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1578" y="4902736"/>
            <a:ext cx="24948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ROI da Solução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• Produtividade aumentada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webkit-standard"/>
              </a:rPr>
              <a:t>• Menos desligamentos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864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D636D13-A252-A1BD-8E75-671216DFC6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82917" y="262553"/>
            <a:ext cx="537358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rgbClr val="C9A959"/>
                </a:solidFill>
                <a:effectLst/>
                <a:latin typeface="Arial" panose="020B0604020202020204" pitchFamily="34" charset="0"/>
              </a:rPr>
              <a:t>Conclusão e Impacto Final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rgbClr val="C9A959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759FFF0-D2D6-A3D7-DB07-2C9CD83D76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2089" y="2074783"/>
            <a:ext cx="11719035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A solução Transição 360 Graus prepara trabalhadores para novas funções com segurança, clareza e acolhimento.</a:t>
            </a:r>
            <a:endParaRPr kumimoji="0" lang="pt-BR" altLang="pt-BR" sz="1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A IA e os insights analíticos garantem trilhas personalizadas, evolução contínua e decisões mais inteligentes.</a:t>
            </a:r>
            <a:endParaRPr kumimoji="0" lang="pt-BR" altLang="pt-BR" sz="1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A empresa ganha produtividade, retenção de talentos e redução do risco de automação.</a:t>
            </a:r>
            <a:endParaRPr kumimoji="0" lang="pt-BR" altLang="pt-BR" sz="1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O colaborador se sente orientado, incluído e emocionalmente apoiado durante toda a transição profissional.</a:t>
            </a:r>
            <a:endParaRPr kumimoji="0" lang="pt-BR" altLang="pt-BR" sz="1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A proposta é imediata, viável e alinhada às demandas reais do futuro do trabalho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pt-BR" altLang="pt-B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961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FED05-6403-828E-1175-C489EAE0D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altLang="pt-BR" sz="3200" b="1" dirty="0">
                <a:solidFill>
                  <a:srgbClr val="C9A959"/>
                </a:solidFill>
                <a:latin typeface="Arial" panose="020B0604020202020204" pitchFamily="34" charset="0"/>
              </a:rPr>
              <a:t>Referências</a:t>
            </a:r>
            <a:br>
              <a:rPr lang="pt-BR" altLang="pt-BR" dirty="0">
                <a:latin typeface="Arial" panose="020B0604020202020204" pitchFamily="34" charset="0"/>
              </a:rPr>
            </a:b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124589-6FFC-9CD8-1835-ECEFC3CECC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00639"/>
            <a:ext cx="736958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World Economic Forum – Future of Jobs Report 2023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2"/>
              </a:rPr>
              <a:t>https://www.weforum.org/reports/future-of-jobs-2023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McKinsey Global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Institute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Technology, Jobs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Future of Work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3"/>
              </a:rPr>
              <a:t>https://www.mckinsey.com/mgi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OECD – Skills for Jobs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Database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https://www.oecd.org/skills/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IBM – The Enterprise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Guide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AI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Adoption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https://www.ibm.com/reports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Harvard Business Review – People + AI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6"/>
              </a:rPr>
              <a:t>https://hbr.org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• MIT Technology Review – Automation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Work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https://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www.technologyreview.com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930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2004</Words>
  <Application>Microsoft Macintosh PowerPoint</Application>
  <PresentationFormat>Widescreen</PresentationFormat>
  <Paragraphs>168</Paragraphs>
  <Slides>14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-webkit-standard</vt:lpstr>
      <vt:lpstr>Aptos</vt:lpstr>
      <vt:lpstr>Aptos Display</vt:lpstr>
      <vt:lpstr>Arial</vt:lpstr>
      <vt:lpstr>Segoe UI</vt:lpstr>
      <vt:lpstr>Tema do Office</vt:lpstr>
      <vt:lpstr>Apresentação do PowerPoint</vt:lpstr>
      <vt:lpstr>Cenário Atual – A Realidade do Trabalho Hoje</vt:lpstr>
      <vt:lpstr>Problema Central – A Exclusão na Transição Tecnológica</vt:lpstr>
      <vt:lpstr>Transição 360 Graus – Solução Proposta</vt:lpstr>
      <vt:lpstr>Benefícios Esperados da Solução</vt:lpstr>
      <vt:lpstr>Impactos da Solução Transição 360 Graus</vt:lpstr>
      <vt:lpstr>Público-Alvo – Personas (Parte 1)</vt:lpstr>
      <vt:lpstr>Público-Alvo – Personas (Parte 2)</vt:lpstr>
      <vt:lpstr>   Arquitetura da Solução      Transição 360 Graus</vt:lpstr>
      <vt:lpstr>Fluxo de Dados da Solução</vt:lpstr>
      <vt:lpstr>Tecnologias Utilizadas </vt:lpstr>
      <vt:lpstr>Métricas de Sucesso (KPIs)</vt:lpstr>
      <vt:lpstr>Conclusão e Impacto Final</vt:lpstr>
      <vt:lpstr>Referências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Cristiani Lourenço</dc:creator>
  <cp:lastModifiedBy>Cristiani Lourenço</cp:lastModifiedBy>
  <cp:revision>27</cp:revision>
  <dcterms:created xsi:type="dcterms:W3CDTF">2025-11-19T16:53:52Z</dcterms:created>
  <dcterms:modified xsi:type="dcterms:W3CDTF">2025-11-20T02:32:51Z</dcterms:modified>
</cp:coreProperties>
</file>